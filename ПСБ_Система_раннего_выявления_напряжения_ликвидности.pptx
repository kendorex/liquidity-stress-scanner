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5143500" cx="9144000"/>
  <p:notesSz cx="5143500" cy="9144000"/>
  <p:embeddedFontLst>
    <p:embeddedFont>
      <p:font typeface="Inter"/>
      <p:regular r:id="rId16"/>
      <p:bold r:id="rId17"/>
      <p:italic r:id="rId18"/>
      <p:boldItalic r:id="rId19"/>
    </p:embeddedFont>
    <p:embeddedFont>
      <p:font typeface="Helvetica Neue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4" roundtripDataSignature="AMtx7mhtk/DPFdxsuRHkH+FSpKtSVuwZC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HelveticaNeue-regular.fntdata"/><Relationship Id="rId11" Type="http://schemas.openxmlformats.org/officeDocument/2006/relationships/slide" Target="slides/slide7.xml"/><Relationship Id="rId22" Type="http://schemas.openxmlformats.org/officeDocument/2006/relationships/font" Target="fonts/HelveticaNeue-italic.fntdata"/><Relationship Id="rId10" Type="http://schemas.openxmlformats.org/officeDocument/2006/relationships/slide" Target="slides/slide6.xml"/><Relationship Id="rId21" Type="http://schemas.openxmlformats.org/officeDocument/2006/relationships/font" Target="fonts/HelveticaNeue-bold.fntdata"/><Relationship Id="rId13" Type="http://schemas.openxmlformats.org/officeDocument/2006/relationships/slide" Target="slides/slide9.xml"/><Relationship Id="rId24" Type="http://customschemas.google.com/relationships/presentationmetadata" Target="metadata"/><Relationship Id="rId12" Type="http://schemas.openxmlformats.org/officeDocument/2006/relationships/slide" Target="slides/slide8.xml"/><Relationship Id="rId23" Type="http://schemas.openxmlformats.org/officeDocument/2006/relationships/font" Target="fonts/HelveticaNeue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Inter-bold.fntdata"/><Relationship Id="rId16" Type="http://schemas.openxmlformats.org/officeDocument/2006/relationships/font" Target="fonts/Inter-regular.fntdata"/><Relationship Id="rId5" Type="http://schemas.openxmlformats.org/officeDocument/2006/relationships/slide" Target="slides/slide1.xml"/><Relationship Id="rId19" Type="http://schemas.openxmlformats.org/officeDocument/2006/relationships/font" Target="fonts/Inter-boldItalic.fntdata"/><Relationship Id="rId6" Type="http://schemas.openxmlformats.org/officeDocument/2006/relationships/slide" Target="slides/slide2.xml"/><Relationship Id="rId18" Type="http://schemas.openxmlformats.org/officeDocument/2006/relationships/font" Target="fonts/Inter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" name="Google Shape;53;p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" name="Google Shape;6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" name="Google Shape;7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5" name="Google Shape;8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" name="Google Shape;10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5" name="Google Shape;11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7" name="Google Shape;12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9" name="Google Shape;13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6" name="Google Shape;15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6" name="Google Shape;16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6" name="Google Shape;186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bg>
      <p:bgPr>
        <a:solidFill>
          <a:srgbClr val="000000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" name="Google Shape;12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bg>
      <p:bgPr>
        <a:solidFill>
          <a:srgbClr val="000000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" name="Google Shape;15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bg>
      <p:bgPr>
        <a:solidFill>
          <a:srgbClr val="000000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8" name="Google Shape;18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bg>
      <p:bgPr>
        <a:solidFill>
          <a:srgbClr val="000000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1" name="Google Shape;21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bg>
      <p:bgPr>
        <a:solidFill>
          <a:srgbClr val="000000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4" name="Google Shape;24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bg>
      <p:bgPr>
        <a:solidFill>
          <a:srgbClr val="000000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7" name="Google Shape;27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bg>
      <p:bgPr>
        <a:solidFill>
          <a:srgbClr val="000000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0" name="Google Shape;30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1 master">
  <p:cSld name="Slide 11 master">
    <p:bg>
      <p:bgPr>
        <a:solidFill>
          <a:srgbClr val="000000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3" name="Google Shape;33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2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2 master">
  <p:cSld name="Slide 12 master">
    <p:bg>
      <p:bgPr>
        <a:solidFill>
          <a:srgbClr val="000000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6" name="Google Shape;36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2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3 master">
  <p:cSld name="Slide 13 master">
    <p:bg>
      <p:bgPr>
        <a:solidFill>
          <a:srgbClr val="000000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9" name="Google Shape;39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2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bg>
      <p:bgPr>
        <a:solidFill>
          <a:srgbClr val="000000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2" name="Google Shape;42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2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bg>
      <p:bgPr>
        <a:solidFill>
          <a:srgbClr val="000000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5" name="Google Shape;45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2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bg>
      <p:bgPr>
        <a:solidFill>
          <a:srgbClr val="000000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8" name="Google Shape;48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2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3.png"/><Relationship Id="rId7" Type="http://schemas.openxmlformats.org/officeDocument/2006/relationships/image" Target="../media/image7.png"/><Relationship Id="rId8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5" Type="http://schemas.openxmlformats.org/officeDocument/2006/relationships/image" Target="../media/image12.png"/><Relationship Id="rId6" Type="http://schemas.openxmlformats.org/officeDocument/2006/relationships/image" Target="../media/image10.png"/><Relationship Id="rId7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"/>
          <p:cNvSpPr/>
          <p:nvPr/>
        </p:nvSpPr>
        <p:spPr>
          <a:xfrm>
            <a:off x="355919" y="1982572"/>
            <a:ext cx="8151900" cy="12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50"/>
              <a:buFont typeface="Inter"/>
              <a:buNone/>
            </a:pPr>
            <a:r>
              <a:rPr b="1" i="0" lang="en-US" sz="385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Система раннего выявления стресса ликвидности</a:t>
            </a:r>
            <a:endParaRPr b="1" i="0" sz="385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2467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50"/>
              <a:buFont typeface="Inter"/>
              <a:buNone/>
            </a:pPr>
            <a:r>
              <a:t/>
            </a:r>
            <a:endParaRPr b="1" i="0" sz="3850" u="none" cap="none" strike="noStrike">
              <a:solidFill>
                <a:schemeClr val="lt1"/>
              </a:solidFill>
              <a:highlight>
                <a:srgbClr val="5A579B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" name="Google Shape;56;p1"/>
          <p:cNvSpPr/>
          <p:nvPr/>
        </p:nvSpPr>
        <p:spPr>
          <a:xfrm>
            <a:off x="355919" y="3263237"/>
            <a:ext cx="815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highlight>
                  <a:srgbClr val="D16F46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Платформа на основе данных и машинного обучения для предиктивной аналитики финансовой стабильности.</a:t>
            </a:r>
            <a:endParaRPr b="0" i="0" sz="1600" u="none" cap="none" strike="noStrike">
              <a:solidFill>
                <a:schemeClr val="lt1"/>
              </a:solidFill>
              <a:highlight>
                <a:srgbClr val="D16F46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highlight>
                <a:srgbClr val="D16F46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highlight>
                <a:srgbClr val="D16F46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highlight>
                <a:srgbClr val="D16F46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57" name="Google Shape;5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9025" y="156775"/>
            <a:ext cx="474675" cy="44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" title="&lt;Path&gt;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78275" y="219463"/>
            <a:ext cx="2395726" cy="337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"/>
          <p:cNvSpPr/>
          <p:nvPr/>
        </p:nvSpPr>
        <p:spPr>
          <a:xfrm>
            <a:off x="496125" y="799875"/>
            <a:ext cx="8492754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45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0"/>
              <a:buFont typeface="Inter"/>
              <a:buNone/>
            </a:pPr>
            <a:r>
              <a:rPr b="1" i="0" lang="en-US" sz="2750" u="none" cap="none" strike="noStrike">
                <a:solidFill>
                  <a:srgbClr val="FFFFFF"/>
                </a:solidFill>
                <a:highlight>
                  <a:srgbClr val="D16F46"/>
                </a:highlight>
                <a:latin typeface="Inter"/>
                <a:ea typeface="Inter"/>
                <a:cs typeface="Inter"/>
                <a:sym typeface="Inter"/>
              </a:rPr>
              <a:t> Ликвидность — кровеносная система банков </a:t>
            </a:r>
            <a:r>
              <a:rPr b="1" i="0" lang="en-US" sz="27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_</a:t>
            </a:r>
            <a:endParaRPr b="0" i="0" sz="27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496119" y="1526381"/>
            <a:ext cx="8151763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Ликвидность</a:t>
            </a:r>
            <a:r>
              <a:rPr b="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— это способность банка в любой момент расплатиться по своим обязательствам: выдать деньги клиентам, провести платежи, закрыть позиции.</a:t>
            </a:r>
            <a:endParaRPr b="0" i="0" sz="1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Когда денег хватает — система работает стабильно.</a:t>
            </a:r>
            <a:endParaRPr b="1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496119" y="2525762"/>
            <a:ext cx="8151900" cy="1431600"/>
          </a:xfrm>
          <a:prstGeom prst="roundRect">
            <a:avLst>
              <a:gd fmla="val 4159" name="adj"/>
            </a:avLst>
          </a:prstGeom>
          <a:solidFill>
            <a:srgbClr val="5A57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Когда возникает дефицит — наступает стресс:</a:t>
            </a:r>
            <a:endParaRPr b="1" i="0" sz="12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marR="0" rtl="0" algn="l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Char char="•"/>
            </a:pPr>
            <a:r>
              <a:rPr b="0" i="0" lang="en-US" sz="12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Ставки на межбанковском рынке взлетают</a:t>
            </a:r>
            <a:endParaRPr b="0" i="0" sz="12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marR="0" rtl="0" algn="l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Char char="•"/>
            </a:pPr>
            <a:r>
              <a:rPr b="0" i="0" lang="en-US" sz="12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Банки вынуждены занимать деньги под высокий процент</a:t>
            </a:r>
            <a:endParaRPr b="0" i="0" sz="12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marR="0" rtl="0" algn="l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Char char="•"/>
            </a:pPr>
            <a:r>
              <a:rPr b="0" i="0" lang="en-US" sz="12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Возникают каскадные риски по всей системе</a:t>
            </a:r>
            <a:endParaRPr b="0" i="0" sz="1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496119" y="4116735"/>
            <a:ext cx="8151763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Задача — научиться предвидеть эти моменты, прежде чем они наступят.</a:t>
            </a:r>
            <a:endParaRPr b="1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8" name="Google Shape;68;p2" title="&lt;Path&gt;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61873" y="227400"/>
            <a:ext cx="1612128" cy="226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"/>
          <p:cNvSpPr/>
          <p:nvPr/>
        </p:nvSpPr>
        <p:spPr>
          <a:xfrm>
            <a:off x="496119" y="795189"/>
            <a:ext cx="8151763" cy="8859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0"/>
              <a:buFont typeface="Inter"/>
              <a:buNone/>
            </a:pPr>
            <a:r>
              <a:rPr b="1" i="0" lang="en-US" sz="2550" u="none" cap="none" strike="noStrike">
                <a:solidFill>
                  <a:schemeClr val="lt1"/>
                </a:solidFill>
                <a:highlight>
                  <a:srgbClr val="5A579B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 Сигналы стресса — разрозненно и постфактум </a:t>
            </a:r>
            <a:endParaRPr b="0" i="0" sz="255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394022" y="1588963"/>
            <a:ext cx="4107000" cy="2787300"/>
          </a:xfrm>
          <a:prstGeom prst="roundRect">
            <a:avLst>
              <a:gd fmla="val 3662" name="adj"/>
            </a:avLst>
          </a:prstGeom>
          <a:solidFill>
            <a:srgbClr val="D16F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535856" y="1899772"/>
            <a:ext cx="17721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Inter"/>
              <a:buNone/>
            </a:pPr>
            <a:r>
              <a:rPr b="1" i="0" lang="en-US" sz="185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Контекст</a:t>
            </a:r>
            <a:endParaRPr b="1" i="0" sz="185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535844" y="2393062"/>
            <a:ext cx="3823500" cy="9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Inter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Ликвидность постоянно осциллирует. Казначей должен удерживать баланс на волнах притоков и оттоков, чтобы банк работал бесперебойно. В идеале — ещё и зарабатывать на неэффективностях рынка.</a:t>
            </a:r>
            <a:endParaRPr b="0" i="0" sz="1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4749701" y="1681172"/>
            <a:ext cx="19353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Ключевая сложность</a:t>
            </a:r>
            <a:endParaRPr b="0" i="0" sz="135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4749701" y="2044387"/>
            <a:ext cx="3903000" cy="11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Система сталкивается с неожиданными отливами и приливами, так как рыночные неэффективности и стресс работают в обе стороны. Сигналы появляются разрозненно и постфактум — когда реакция уже запоздала.</a:t>
            </a:r>
            <a:endParaRPr b="0" i="0" sz="1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4749701" y="3547086"/>
            <a:ext cx="3903000" cy="829200"/>
          </a:xfrm>
          <a:prstGeom prst="roundRect">
            <a:avLst>
              <a:gd fmla="val 7181" name="adj"/>
            </a:avLst>
          </a:prstGeom>
          <a:solidFill>
            <a:srgbClr val="5A57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Рынок реагирует на кризис, когда уже поздно спекулировать</a:t>
            </a:r>
            <a:endParaRPr b="0" i="0" sz="1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81" name="Google Shape;81;p3" title="&lt;Path&gt;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61873" y="227400"/>
            <a:ext cx="1612128" cy="226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"/>
          <p:cNvSpPr/>
          <p:nvPr/>
        </p:nvSpPr>
        <p:spPr>
          <a:xfrm>
            <a:off x="496119" y="817513"/>
            <a:ext cx="8151763" cy="8859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0"/>
              <a:buFont typeface="Inter"/>
              <a:buNone/>
            </a:pPr>
            <a:r>
              <a:rPr b="1" i="0" lang="en-US" sz="275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Liquidity Stress Index (LSI) — «гром перед грозой»</a:t>
            </a:r>
            <a:endParaRPr b="0" i="0" sz="275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496119" y="1839888"/>
            <a:ext cx="8151900" cy="6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Мы предлагаем создать сервис, который агрегирует все рыночные колебания в единый опережающий индикатор. LSI показывает «температуру по палате» от 0 (полный штиль) до 100 (идеальный шторм), давая казначейству драгоценное время на маневр.</a:t>
            </a:r>
            <a:endParaRPr b="0" i="0" sz="1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496119" y="2755999"/>
            <a:ext cx="8151763" cy="1279996"/>
          </a:xfrm>
          <a:prstGeom prst="roundRect">
            <a:avLst>
              <a:gd fmla="val 4652" name="adj"/>
            </a:avLst>
          </a:prstGeom>
          <a:solidFill>
            <a:srgbClr val="D16F46"/>
          </a:solidFill>
          <a:ln cap="flat" cmpd="sng" w="9525">
            <a:solidFill>
              <a:srgbClr val="C8CA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642640" y="2902521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0–40 · Норма</a:t>
            </a:r>
            <a:endParaRPr b="1" i="0" sz="13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642640" y="3209032"/>
            <a:ext cx="2430512" cy="6804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Стабильное состояние ликвидности. Рынок функционирует без аномалий.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3214911" y="2760762"/>
            <a:ext cx="19050" cy="1270471"/>
          </a:xfrm>
          <a:prstGeom prst="roundRect">
            <a:avLst>
              <a:gd fmla="val 312558" name="adj"/>
            </a:avLst>
          </a:prstGeom>
          <a:solidFill>
            <a:srgbClr val="C8CAC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3356670" y="2902521"/>
            <a:ext cx="1829023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40–70 · Напряжение</a:t>
            </a:r>
            <a:endParaRPr b="1" i="0" sz="13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3356670" y="3209032"/>
            <a:ext cx="2430587" cy="6804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Повышенное напряжение. Требуется мониторинг и анализ факторов.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5929015" y="2760762"/>
            <a:ext cx="19050" cy="1270471"/>
          </a:xfrm>
          <a:prstGeom prst="roundRect">
            <a:avLst>
              <a:gd fmla="val 312558" name="adj"/>
            </a:avLst>
          </a:prstGeom>
          <a:solidFill>
            <a:srgbClr val="C8CAC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6070774" y="2902521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70–100 · Стресс</a:t>
            </a:r>
            <a:endParaRPr b="1" i="0" sz="13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6070774" y="3209032"/>
            <a:ext cx="2430587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Критическое состояние. Активная фаза дефицита ликвидности.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496119" y="4195465"/>
            <a:ext cx="8151763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Дополнительно: система формирует текстовую интерпретацию результата и показывает вклад каждого фактора в итоговый индекс.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9" name="Google Shape;99;p4" title="&lt;Path&gt;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61873" y="227400"/>
            <a:ext cx="1612128" cy="226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"/>
          <p:cNvSpPr/>
          <p:nvPr/>
        </p:nvSpPr>
        <p:spPr>
          <a:xfrm>
            <a:off x="404301" y="905025"/>
            <a:ext cx="72813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Inter"/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highlight>
                  <a:srgbClr val="5A579B"/>
                </a:highlight>
                <a:latin typeface="Inter"/>
                <a:ea typeface="Inter"/>
                <a:cs typeface="Inter"/>
                <a:sym typeface="Inter"/>
              </a:rPr>
              <a:t> Резервы и рефинансирование </a:t>
            </a:r>
            <a:r>
              <a:rPr b="1" i="0" lang="en-US" sz="25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_</a:t>
            </a:r>
            <a:endParaRPr b="0" i="0" sz="2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404300" y="1475924"/>
            <a:ext cx="4104000" cy="2825731"/>
          </a:xfrm>
          <a:prstGeom prst="roundRect">
            <a:avLst>
              <a:gd fmla="val 5417" name="adj"/>
            </a:avLst>
          </a:prstGeom>
          <a:solidFill>
            <a:srgbClr val="D16F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D16F4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531837" y="2324078"/>
            <a:ext cx="3848700" cy="11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Inter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Банки обязаны хранить часть денег на счетах в ЦБ как страховку. Они могут выполнять это требование не каждый день, а «в среднем» за период. Если мы видим, что банки держат там денег больше нормы (резкий рост спреда) — значит, они запасаются ликвидностью, боясь дефицита. Это маркер стресса.</a:t>
            </a:r>
            <a:endParaRPr b="0" i="0" sz="1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531823" y="1590750"/>
            <a:ext cx="3785400" cy="1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Inter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Модуль 1. Усреднение обязательных резервов</a:t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4732352" y="1590750"/>
            <a:ext cx="3591600" cy="1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Inter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highlight>
                  <a:srgbClr val="D16F46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 Модуль 2. Аукционы РЕПО ЦБ </a:t>
            </a:r>
            <a:r>
              <a:rPr b="1" i="0" lang="en-US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_</a:t>
            </a:r>
            <a:endParaRPr b="0" i="0" sz="14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4732362" y="2057251"/>
            <a:ext cx="3920400" cy="11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nter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РЕПО — это «ломбард» для банков. Они отдают ЦБ ценные бумаги в залог и получают живые деньги. Это ключевой инструмент быстрого рефинансирования. Мы смотрим на cover ratio (если спрос превышает предложение в 2+ раза) и спред ставки отсечения к ключевой ставке — это означает, что банкам остро нужны деньги здесь и сейчас.</a:t>
            </a:r>
            <a:endParaRPr b="0" i="0" sz="1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11" name="Google Shape;111;p5" title="&lt;Path&gt;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61873" y="227400"/>
            <a:ext cx="1612128" cy="226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"/>
          <p:cNvSpPr/>
          <p:nvPr/>
        </p:nvSpPr>
        <p:spPr>
          <a:xfrm>
            <a:off x="438926" y="905273"/>
            <a:ext cx="74625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Inter"/>
              <a:buNone/>
            </a:pPr>
            <a:r>
              <a:rPr b="1" i="0" lang="en-US" sz="2500" u="none" cap="none" strike="noStrike">
                <a:solidFill>
                  <a:schemeClr val="lt1"/>
                </a:solidFill>
                <a:highlight>
                  <a:srgbClr val="5A579B"/>
                </a:highlight>
                <a:latin typeface="Inter"/>
                <a:ea typeface="Inter"/>
                <a:cs typeface="Inter"/>
                <a:sym typeface="Inter"/>
              </a:rPr>
              <a:t> Государственный долг и налоговые циклы </a:t>
            </a:r>
            <a:r>
              <a:rPr b="1" i="0" lang="en-US" sz="25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_</a:t>
            </a:r>
            <a:endParaRPr b="0" i="0" sz="2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402200" y="1484021"/>
            <a:ext cx="4104000" cy="2496900"/>
          </a:xfrm>
          <a:prstGeom prst="roundRect">
            <a:avLst>
              <a:gd fmla="val 5417" name="adj"/>
            </a:avLst>
          </a:prstGeom>
          <a:solidFill>
            <a:srgbClr val="D16F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529717" y="1598848"/>
            <a:ext cx="2976600" cy="1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Inter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Модуль 3. Размещение ОФЗ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529737" y="1989149"/>
            <a:ext cx="38487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Inter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ОФЗ (облигации федерального займа) — инструмент, через который государство берет деньги в долг у рынка (в том числе у банков). Это барометр свободных денег. </a:t>
            </a:r>
            <a:endParaRPr b="0" i="0" sz="12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Inter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Если на аукционах Минфина недоспрос (банки не покупают госдолг) — это прямой сигнал, что у банков нет лишней ликвидности.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4730246" y="1598848"/>
            <a:ext cx="3849000" cy="1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Inter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highlight>
                  <a:srgbClr val="D16F46"/>
                </a:highlight>
                <a:latin typeface="Inter"/>
                <a:ea typeface="Inter"/>
                <a:cs typeface="Inter"/>
                <a:sym typeface="Inter"/>
              </a:rPr>
              <a:t> Модуль 4. Налоговый период и сезонность </a:t>
            </a:r>
            <a:r>
              <a:rPr b="1" i="0" lang="en-US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_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4730262" y="2141549"/>
            <a:ext cx="3920400" cy="11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nter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В разные дни разные клиенты (в зависимости от категории деятельности) массово снимают деньги со счетов для уплаты конкретных налогов в бюджет (НДС, НДПИ, налог на прибыль и т.д.). Это создает мощный, предсказуемый сезонный отток в конкретные даты, который нужно уметь прогнозировать.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3" name="Google Shape;123;p6" title="&lt;Path&gt;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61873" y="227400"/>
            <a:ext cx="1612128" cy="226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"/>
          <p:cNvSpPr/>
          <p:nvPr/>
        </p:nvSpPr>
        <p:spPr>
          <a:xfrm>
            <a:off x="0" y="1031300"/>
            <a:ext cx="8509500" cy="799800"/>
          </a:xfrm>
          <a:prstGeom prst="rect">
            <a:avLst/>
          </a:prstGeom>
          <a:solidFill>
            <a:srgbClr val="5A579B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496119" y="1264072"/>
            <a:ext cx="7703716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45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0"/>
              <a:buFont typeface="Inter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Средства Федерального казначейства</a:t>
            </a:r>
            <a:endParaRPr b="0" i="0" sz="24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496119" y="1990576"/>
            <a:ext cx="8151763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ЕКС (Единый казначейский счет)</a:t>
            </a:r>
            <a:r>
              <a:rPr b="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— это «кошелек» государства. На него стекаются все налоги, и с него же идут госрасходы.</a:t>
            </a:r>
            <a:endParaRPr b="0" i="0" sz="1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496119" y="2603674"/>
            <a:ext cx="8151763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Отслеживаем дельту остатков:</a:t>
            </a:r>
            <a:endParaRPr b="1" i="0" sz="1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496119" y="2989957"/>
            <a:ext cx="8151763" cy="5031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Если казначейство забрало налоги с рынка на ЕКС — это отток для банков</a:t>
            </a:r>
            <a:endParaRPr b="0" i="0" sz="1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marR="0" rtl="0" algn="l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Если разместило временно свободные излишки на депозитах в коммерческих банках — это приток</a:t>
            </a:r>
            <a:endParaRPr b="0" i="0" sz="1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496119" y="3652614"/>
            <a:ext cx="8151763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Эти движения создают предсказуемые волны ликвидности, которые можно моделировать и учитывать в LSI.</a:t>
            </a:r>
            <a:endParaRPr b="1" i="0" sz="1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35" name="Google Shape;135;p7" title="&lt;Path&gt;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61873" y="227400"/>
            <a:ext cx="1612128" cy="226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8"/>
          <p:cNvSpPr/>
          <p:nvPr/>
        </p:nvSpPr>
        <p:spPr>
          <a:xfrm>
            <a:off x="496126" y="596500"/>
            <a:ext cx="87690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Inter"/>
              <a:buNone/>
            </a:pPr>
            <a:r>
              <a:rPr b="1" i="0" lang="en-US" sz="2500" u="none" cap="none" strike="noStrike">
                <a:solidFill>
                  <a:schemeClr val="lt1"/>
                </a:solidFill>
                <a:highlight>
                  <a:srgbClr val="D16F46"/>
                </a:highlight>
                <a:latin typeface="Inter"/>
                <a:ea typeface="Inter"/>
                <a:cs typeface="Inter"/>
                <a:sym typeface="Inter"/>
              </a:rPr>
              <a:t> От сырых данных — к количественным сигналам </a:t>
            </a:r>
            <a:r>
              <a:rPr b="1" i="0" lang="en-US" sz="25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_</a:t>
            </a:r>
            <a:endParaRPr b="0" i="0" sz="2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42" name="Google Shape;14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19337" y="1224855"/>
            <a:ext cx="5705252" cy="26111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3" name="Google Shape;143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14696" y="1876781"/>
            <a:ext cx="366822" cy="366823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8"/>
          <p:cNvSpPr/>
          <p:nvPr/>
        </p:nvSpPr>
        <p:spPr>
          <a:xfrm>
            <a:off x="6087875" y="3240675"/>
            <a:ext cx="1134900" cy="1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nter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Нормализация</a:t>
            </a:r>
            <a:endParaRPr b="1" i="0" sz="1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preencoded.png" id="145" name="Google Shape;145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71781" y="1877469"/>
            <a:ext cx="366822" cy="366823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8"/>
          <p:cNvSpPr/>
          <p:nvPr/>
        </p:nvSpPr>
        <p:spPr>
          <a:xfrm>
            <a:off x="4737972" y="3162265"/>
            <a:ext cx="1071122" cy="3136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nter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Выявление отклонений</a:t>
            </a:r>
            <a:endParaRPr b="1" i="0" sz="1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preencoded.png" id="147" name="Google Shape;147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729210" y="1877469"/>
            <a:ext cx="366823" cy="366823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8"/>
          <p:cNvSpPr/>
          <p:nvPr/>
        </p:nvSpPr>
        <p:spPr>
          <a:xfrm>
            <a:off x="3395401" y="3240673"/>
            <a:ext cx="1071122" cy="1568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nter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Расчет метрик</a:t>
            </a:r>
            <a:endParaRPr b="1" i="0" sz="1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preencoded.png" id="149" name="Google Shape;149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379303" y="1877469"/>
            <a:ext cx="366823" cy="366823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8"/>
          <p:cNvSpPr/>
          <p:nvPr/>
        </p:nvSpPr>
        <p:spPr>
          <a:xfrm>
            <a:off x="2023485" y="3240673"/>
            <a:ext cx="1071122" cy="1568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nter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Сбор данных</a:t>
            </a:r>
            <a:endParaRPr b="1" i="0" sz="1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51" name="Google Shape;151;p8" title="&lt;Path&gt;.png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961873" y="227400"/>
            <a:ext cx="1612128" cy="226825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8"/>
          <p:cNvSpPr/>
          <p:nvPr/>
        </p:nvSpPr>
        <p:spPr>
          <a:xfrm>
            <a:off x="496119" y="3881611"/>
            <a:ext cx="81519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nter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Каждый источник данных проходит полный цикл обработки, в результате которого формируется нормализованный количественный сигнал состояния. </a:t>
            </a:r>
            <a:r>
              <a:rPr b="1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Нормализация критически важна</a:t>
            </a:r>
            <a:r>
              <a:rPr b="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Она позволяет сравнивать и объединять показатели из принципиально разных доменов — от налоговых дат до межбанковских ставок.</a:t>
            </a:r>
            <a:endParaRPr b="0" i="0" sz="1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9"/>
          <p:cNvSpPr/>
          <p:nvPr/>
        </p:nvSpPr>
        <p:spPr>
          <a:xfrm>
            <a:off x="496125" y="763873"/>
            <a:ext cx="82812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45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0"/>
              <a:buFont typeface="Inter"/>
              <a:buNone/>
            </a:pPr>
            <a:r>
              <a:rPr b="1" i="0" lang="en-US" sz="2750" u="none" cap="none" strike="noStrike">
                <a:solidFill>
                  <a:schemeClr val="lt1"/>
                </a:solidFill>
                <a:highlight>
                  <a:srgbClr val="5A579B"/>
                </a:highlight>
                <a:latin typeface="Inter"/>
                <a:ea typeface="Inter"/>
                <a:cs typeface="Inter"/>
                <a:sym typeface="Inter"/>
              </a:rPr>
              <a:t> Объединение сигналов без двойного учёта </a:t>
            </a:r>
            <a:r>
              <a:rPr b="1" i="0" lang="en-US" sz="275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_</a:t>
            </a:r>
            <a:endParaRPr b="0" i="0" sz="27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9"/>
          <p:cNvSpPr/>
          <p:nvPr/>
        </p:nvSpPr>
        <p:spPr>
          <a:xfrm>
            <a:off x="496119" y="1517246"/>
            <a:ext cx="8151900" cy="11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Стресс ликвидности — это всегда один масштабный процесс, но он одновременно отбрасывает тени в разных плоскостях. Например, сезонные налоговые выплаты (М4) тут же отражаются в повышенном спросе банков на кредиты в ЦБ (М2 — РЕПО) и росте ставок на межбанке (М1 — RUONIA). </a:t>
            </a:r>
            <a:r>
              <a:rPr b="1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Если просто сложить эти сигналы, мы получим математическое задвоение (двойной счет) и искусственно завысив панику LSI, решив, что наступил кризис, хотя это обычный конец месяца.</a:t>
            </a:r>
            <a:endParaRPr b="1" i="0" sz="1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0" name="Google Shape;160;p9"/>
          <p:cNvSpPr/>
          <p:nvPr/>
        </p:nvSpPr>
        <p:spPr>
          <a:xfrm>
            <a:off x="496119" y="3106727"/>
            <a:ext cx="81519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Задача — научить модель видеть реальный структурный стресс за календарным и сезонным шумом, грамотно распределяя веса факторов.</a:t>
            </a:r>
            <a:endParaRPr b="1" i="0" sz="1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1" name="Google Shape;161;p9"/>
          <p:cNvSpPr/>
          <p:nvPr/>
        </p:nvSpPr>
        <p:spPr>
          <a:xfrm>
            <a:off x="496119" y="3934346"/>
            <a:ext cx="8151763" cy="602382"/>
          </a:xfrm>
          <a:prstGeom prst="roundRect">
            <a:avLst>
              <a:gd fmla="val 9884" name="adj"/>
            </a:avLst>
          </a:prstGeom>
          <a:solidFill>
            <a:srgbClr val="D16F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Ключевое требование:</a:t>
            </a:r>
            <a:r>
              <a:rPr b="0" i="0" lang="en-US" sz="12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результат должен быть интерпретируемым — вклад каждого фактора явно виден.</a:t>
            </a:r>
            <a:endParaRPr b="0" i="0" sz="1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62" name="Google Shape;162;p9" title="&lt;Path&gt;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61873" y="227400"/>
            <a:ext cx="1612128" cy="226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0"/>
          <p:cNvSpPr/>
          <p:nvPr/>
        </p:nvSpPr>
        <p:spPr>
          <a:xfrm>
            <a:off x="0" y="645425"/>
            <a:ext cx="5974800" cy="678900"/>
          </a:xfrm>
          <a:prstGeom prst="rect">
            <a:avLst/>
          </a:prstGeom>
          <a:solidFill>
            <a:srgbClr val="5A579B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9" name="Google Shape;169;p10"/>
          <p:cNvSpPr/>
          <p:nvPr/>
        </p:nvSpPr>
        <p:spPr>
          <a:xfrm>
            <a:off x="496119" y="775022"/>
            <a:ext cx="5173861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45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0"/>
              <a:buFont typeface="Inter"/>
              <a:buNone/>
            </a:pPr>
            <a:r>
              <a:rPr b="1" i="0" lang="en-US" sz="275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Результаты работы системы</a:t>
            </a:r>
            <a:endParaRPr b="0" i="0" sz="275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preencoded.png" id="170" name="Google Shape;17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1501527"/>
            <a:ext cx="354360" cy="35436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0"/>
          <p:cNvSpPr/>
          <p:nvPr/>
        </p:nvSpPr>
        <p:spPr>
          <a:xfrm>
            <a:off x="496119" y="2033067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chemeClr val="lt1"/>
                </a:solidFill>
                <a:highlight>
                  <a:srgbClr val="D16F46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 LSI (0–100) </a:t>
            </a:r>
            <a:r>
              <a:rPr b="1" i="0" lang="en-US" sz="135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_</a:t>
            </a:r>
            <a:endParaRPr b="0" i="0" sz="135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2" name="Google Shape;172;p10"/>
          <p:cNvSpPr/>
          <p:nvPr/>
        </p:nvSpPr>
        <p:spPr>
          <a:xfrm>
            <a:off x="496119" y="2339578"/>
            <a:ext cx="3987254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Единый индекс с классификацией (норма / напряжение / стресс)</a:t>
            </a:r>
            <a:endParaRPr b="0" i="0" sz="1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preencoded.png" id="173" name="Google Shape;173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60553" y="1501527"/>
            <a:ext cx="354360" cy="35436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0"/>
          <p:cNvSpPr/>
          <p:nvPr/>
        </p:nvSpPr>
        <p:spPr>
          <a:xfrm>
            <a:off x="4660553" y="2033067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chemeClr val="lt1"/>
                </a:solidFill>
                <a:highlight>
                  <a:srgbClr val="D16F46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 Вклад модулей </a:t>
            </a:r>
            <a:r>
              <a:rPr b="1" i="0" lang="en-US" sz="135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_</a:t>
            </a:r>
            <a:endParaRPr b="0" i="0" sz="135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5" name="Google Shape;175;p10"/>
          <p:cNvSpPr/>
          <p:nvPr/>
        </p:nvSpPr>
        <p:spPr>
          <a:xfrm>
            <a:off x="4660553" y="2339578"/>
            <a:ext cx="3987329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Разложение индекса по источникам — какой фактор влияет сильнее всего</a:t>
            </a:r>
            <a:endParaRPr b="0" i="0" sz="1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preencoded.png" id="176" name="Google Shape;176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6119" y="3076724"/>
            <a:ext cx="354360" cy="35436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0"/>
          <p:cNvSpPr/>
          <p:nvPr/>
        </p:nvSpPr>
        <p:spPr>
          <a:xfrm>
            <a:off x="496127" y="3608275"/>
            <a:ext cx="22353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chemeClr val="lt1"/>
                </a:solidFill>
                <a:highlight>
                  <a:srgbClr val="D16F46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 Дашборд и алерты </a:t>
            </a:r>
            <a:r>
              <a:rPr b="1" i="0" lang="en-US" sz="135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_</a:t>
            </a:r>
            <a:endParaRPr b="0" i="0" sz="135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8" name="Google Shape;178;p10"/>
          <p:cNvSpPr/>
          <p:nvPr/>
        </p:nvSpPr>
        <p:spPr>
          <a:xfrm>
            <a:off x="496119" y="3914775"/>
            <a:ext cx="3987254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Визуализация динамики, графики, автоматические уведомления при превышении порога</a:t>
            </a:r>
            <a:endParaRPr b="0" i="0" sz="1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preencoded.png" id="179" name="Google Shape;179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60553" y="3076724"/>
            <a:ext cx="354360" cy="35436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0"/>
          <p:cNvSpPr/>
          <p:nvPr/>
        </p:nvSpPr>
        <p:spPr>
          <a:xfrm>
            <a:off x="4660549" y="3608275"/>
            <a:ext cx="29595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chemeClr val="lt1"/>
                </a:solidFill>
                <a:highlight>
                  <a:srgbClr val="D16F46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 Текстовая интерпретация </a:t>
            </a:r>
            <a:r>
              <a:rPr b="1" i="0" lang="en-US" sz="135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_</a:t>
            </a:r>
            <a:endParaRPr b="0" i="0" sz="135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1" name="Google Shape;181;p10"/>
          <p:cNvSpPr/>
          <p:nvPr/>
        </p:nvSpPr>
        <p:spPr>
          <a:xfrm>
            <a:off x="4660553" y="3914775"/>
            <a:ext cx="3987329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Автоматическое резюме на основе LLM — объяснение ситуации на естественном языке</a:t>
            </a:r>
            <a:endParaRPr b="0" i="0" sz="1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82" name="Google Shape;182;p10" title="&lt;Path&gt;.png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961873" y="227400"/>
            <a:ext cx="1612128" cy="226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1"/>
          <p:cNvSpPr/>
          <p:nvPr/>
        </p:nvSpPr>
        <p:spPr>
          <a:xfrm>
            <a:off x="394026" y="1048950"/>
            <a:ext cx="48648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45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0"/>
              <a:buFont typeface="Inter"/>
              <a:buNone/>
            </a:pPr>
            <a:r>
              <a:rPr b="1" i="0" lang="en-US" sz="2750" u="none" cap="none" strike="noStrike">
                <a:solidFill>
                  <a:schemeClr val="lt1"/>
                </a:solidFill>
                <a:highlight>
                  <a:srgbClr val="5A579B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 Критерии оценивания </a:t>
            </a:r>
            <a:r>
              <a:rPr b="1" i="0" lang="en-US" sz="275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_</a:t>
            </a:r>
            <a:endParaRPr b="0" i="0" sz="275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9" name="Google Shape;189;p11"/>
          <p:cNvSpPr/>
          <p:nvPr/>
        </p:nvSpPr>
        <p:spPr>
          <a:xfrm>
            <a:off x="394025" y="1704525"/>
            <a:ext cx="4107000" cy="2611800"/>
          </a:xfrm>
          <a:prstGeom prst="roundRect">
            <a:avLst>
              <a:gd fmla="val 4271" name="adj"/>
            </a:avLst>
          </a:prstGeom>
          <a:solidFill>
            <a:srgbClr val="D16F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0" name="Google Shape;190;p11"/>
          <p:cNvSpPr/>
          <p:nvPr/>
        </p:nvSpPr>
        <p:spPr>
          <a:xfrm>
            <a:off x="535773" y="1846275"/>
            <a:ext cx="25185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Inter"/>
              <a:buNone/>
            </a:pPr>
            <a:r>
              <a:rPr b="1" i="0" lang="en-US" sz="155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Основные критерии</a:t>
            </a:r>
            <a:endParaRPr b="1" i="0" sz="155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1" name="Google Shape;191;p11"/>
          <p:cNvSpPr/>
          <p:nvPr/>
        </p:nvSpPr>
        <p:spPr>
          <a:xfrm>
            <a:off x="535781" y="2209502"/>
            <a:ext cx="3823618" cy="18354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Char char="•"/>
            </a:pPr>
            <a:r>
              <a:rPr b="0" i="0" lang="en-US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Корректность расчетов и логики модулей</a:t>
            </a:r>
            <a:endParaRPr b="0" i="0" sz="1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marR="0" rtl="0" algn="l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Char char="•"/>
            </a:pPr>
            <a:r>
              <a:rPr b="0" i="0" lang="en-US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Качество обработки и нормализации данных</a:t>
            </a:r>
            <a:endParaRPr b="0" i="0" sz="1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marR="0" rtl="0" algn="l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Char char="•"/>
            </a:pPr>
            <a:r>
              <a:rPr b="0" i="0" lang="en-US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Обоснованность метода агрегации</a:t>
            </a:r>
            <a:endParaRPr b="0" i="0" sz="1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marR="0" rtl="0" algn="l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Char char="•"/>
            </a:pPr>
            <a:r>
              <a:rPr b="0" i="0" lang="en-US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Интерпретируемость результата</a:t>
            </a:r>
            <a:endParaRPr b="0" i="0" sz="1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marR="0" rtl="0" algn="l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Char char="•"/>
            </a:pPr>
            <a:r>
              <a:rPr b="0" i="0" lang="en-US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Качество визуализации (дашборд)</a:t>
            </a:r>
            <a:endParaRPr b="0" i="0" sz="1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marR="0" rtl="0" algn="l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Char char="•"/>
            </a:pPr>
            <a:r>
              <a:rPr b="0" i="0" lang="en-US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Решение проблемы двойного счета (пересечения сигналов)</a:t>
            </a:r>
            <a:endParaRPr b="0" i="0" sz="1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2" name="Google Shape;192;p11"/>
          <p:cNvSpPr/>
          <p:nvPr/>
        </p:nvSpPr>
        <p:spPr>
          <a:xfrm>
            <a:off x="4749700" y="1846275"/>
            <a:ext cx="32010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Inter"/>
              <a:buNone/>
            </a:pPr>
            <a:r>
              <a:rPr b="1" i="0" lang="en-US" sz="1450" u="none" cap="none" strike="noStrike">
                <a:solidFill>
                  <a:schemeClr val="lt1"/>
                </a:solidFill>
                <a:highlight>
                  <a:srgbClr val="D16F46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 Дополнительные баллы</a:t>
            </a:r>
            <a:endParaRPr b="0" i="0" sz="145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3" name="Google Shape;193;p11"/>
          <p:cNvSpPr/>
          <p:nvPr/>
        </p:nvSpPr>
        <p:spPr>
          <a:xfrm>
            <a:off x="4749701" y="2209502"/>
            <a:ext cx="3902943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Использование LLM для генерации осмысленных текстовых комментариев и аналитики</a:t>
            </a:r>
            <a:endParaRPr b="0" i="0" sz="1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94" name="Google Shape;194;p11" title="&lt;Path&gt;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61873" y="227400"/>
            <a:ext cx="1612128" cy="226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